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18"/>
    <p:sldId id="257" r:id="rId17"/>
    <p:sldId id="258" r:id="rId16"/>
    <p:sldId id="259" r:id="rId15"/>
    <p:sldId id="260" r:id="rId14"/>
    <p:sldId id="261" r:id="rId13"/>
    <p:sldId id="262" r:id="rId12"/>
    <p:sldId id="263" r:id="rId11"/>
    <p:sldId id="264" r:id="rId10"/>
    <p:sldId id="265" r:id="rId9"/>
    <p:sldId id="266" r:id="rId8"/>
    <p:sldId id="267" r:id="rId7"/>
    <p:sldId id="268" r:id="rId6"/>
    <p:sldId id="269" r:id="rId5"/>
    <p:sldId id="270" r:id="rId4"/>
    <p:sldId id="271" r:id="rId3"/>
    <p:sldId id="272" r:id="rId2"/>
  </p:sldIdLst>
  <p:sldSz cx="12192000" cy="6858000"/>
  <p:notesSz cx="6858000" cy="12192000"/>
  <p:embeddedFontLst>
    <p:embeddedFont>
      <p:font typeface="Be Vietnam Pro" pitchFamily="2" charset="0"/>
      <p:regular r:id="rId20"/>
      <p:bold r:id="rId21"/>
      <p:italic r:id="rId22"/>
      <p:boldItalic r:id="rId23"/>
    </p:embeddedFont>
    <p:embeddedFont>
      <p:font typeface="Be Vietnam Pro SemiBold" pitchFamily="2" charset="0"/>
      <p:bold r:id="rId24"/>
      <p:boldItalic r:id="rId25"/>
    </p:embeddedFont>
    <p:embeddedFont>
      <p:font typeface="Lora" pitchFamily="2" charset="0"/>
      <p:regular r:id="rId26"/>
      <p:bold r:id="rId27"/>
      <p:italic r:id="rId28"/>
      <p:boldItalic r:id="rId29"/>
    </p:embeddedFont>
    <p:embeddedFont>
      <p:font typeface="Lora Medium" pitchFamily="2" charset="0"/>
      <p:regular r:id="rId30"/>
      <p: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5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Chỉ số</c:v>
                </c:pt>
              </c:strCache>
            </c:strRef>
          </c:tx>
          <c:spPr>
            <a:solidFill>
              <a:srgbClr val="264896"/>
            </a:solidFill>
          </c:spPr>
          <c:invertIfNegative val="0"/>
          <c:dPt>
            <c:idx val="4"/>
            <c:invertIfNegative val="0"/>
            <c:spPr>
              <a:solidFill>
                <a:srgbClr val="FFCD00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63,2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64,5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65,1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66,0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67,4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63.2</c:v>
                </c:pt>
                <c:pt idx="1">
                  <c:v>64.5</c:v>
                </c:pt>
                <c:pt idx="2">
                  <c:v>65.1</c:v>
                </c:pt>
                <c:pt idx="3">
                  <c:v>66.0</c:v>
                </c:pt>
                <c:pt idx="4">
                  <c:v>67.4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61A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E1D5"/>
            </a:solidFill>
          </a:ln>
        </c:spPr>
        <c:txPr>
          <a:bodyPr/>
          <a:lstStyle/>
          <a:p>
            <a:pPr>
              <a:defRPr sz="1200">
                <a:solidFill>
                  <a:srgbClr val="161A2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A26"/>
          </a:solidFill>
          <a:latin typeface="Be Vietnam Pr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Chênh lệch</c:v>
                </c:pt>
              </c:strCache>
            </c:strRef>
          </c:tx>
          <c:spPr>
            <a:solidFill>
              <a:srgbClr val="264896"/>
            </a:solidFill>
          </c:spPr>
          <c:invertIfNegative val="0"/>
          <c:dPt>
            <c:idx val="3"/>
            <c:invertIfNegative val="0"/>
            <c:spPr>
              <a:solidFill>
                <a:srgbClr val="CC713C"/>
              </a:solidFill>
            </c:spPr>
          </c:dPt>
          <c:dPt>
            <c:idx val="4"/>
            <c:invertIfNegative val="0"/>
            <c:spPr>
              <a:solidFill>
                <a:srgbClr val="CC713C"/>
              </a:solidFill>
            </c:spPr>
          </c:dPt>
          <c:dPt>
            <c:idx val="5"/>
            <c:invertIfNegative val="0"/>
            <c:spPr>
              <a:solidFill>
                <a:srgbClr val="CC713C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+0,99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+0,92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+0,70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-0,14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-0,38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200">
                        <a:solidFill>
                          <a:srgbClr val="161A26"/>
                        </a:solidFill>
                        <a:latin typeface="Be Vietnam Pro"/>
                      </a:rPr>
                      <a:t>-0,70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Chính quyền kiến tạo</c:v>
                </c:pt>
                <c:pt idx="1">
                  <c:v>Cạnh tranh bình đẳng</c:v>
                </c:pt>
                <c:pt idx="2">
                  <c:v>Chi phí không chính thức</c:v>
                </c:pt>
                <c:pt idx="3">
                  <c:v>Tính minh bạch</c:v>
                </c:pt>
                <c:pt idx="4">
                  <c:v>Gia nhập thị trường</c:v>
                </c:pt>
                <c:pt idx="5">
                  <c:v>Chi phí tuân thủ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0.99</c:v>
                </c:pt>
                <c:pt idx="1">
                  <c:v>0.92</c:v>
                </c:pt>
                <c:pt idx="2">
                  <c:v>0.7</c:v>
                </c:pt>
                <c:pt idx="3">
                  <c:v>-0.14</c:v>
                </c:pt>
                <c:pt idx="4">
                  <c:v>-0.38</c:v>
                </c:pt>
                <c:pt idx="5">
                  <c:v>-0.7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61A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6E1D5"/>
            </a:solidFill>
          </a:ln>
        </c:spPr>
        <c:txPr>
          <a:bodyPr/>
          <a:lstStyle/>
          <a:p>
            <a:pPr>
              <a:defRPr sz="1200">
                <a:solidFill>
                  <a:srgbClr val="161A2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A26"/>
          </a:solidFill>
          <a:latin typeface="Be Vietnam Pr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17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Mỗi slide một thông điệp; tối đa năm ý.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Bìa sá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3108960" cy="9352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2331720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514600"/>
            <a:ext cx="6309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Tên bài trình bày</a:t>
            </a:r>
            <a:endParaRPr lang="en-US" sz="36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343400"/>
            <a:ext cx="6309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i="1" dirty="0">
                <a:solidFill>
                  <a:srgbClr val="5C6478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pPr marL="0" indent="0">
              <a:buNone/>
            </a:pPr>
            <a:r>
              <a:rPr lang="en-US" sz="1700" i="1" dirty="0">
                <a:solidFill>
                  <a:srgbClr val="5C647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English title (optional)</a:t>
            </a:r>
            <a:endParaRPr lang="en-US" sz="17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5715000"/>
            <a:ext cx="63093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rgbClr val="5C647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rgbClr val="5C647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trình bày · Sự kiện · Hà Nội, ngày/tháng/năm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hương trình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9174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 slide</a:t>
            </a: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731520" y="148132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1828800"/>
            <a:ext cx="1072865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1400"/>
              </a:spcAft>
              <a:buNone/>
              <a:defRPr lang="en-US" sz="20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1</a:t>
            </a:r>
            <a:endParaRPr lang="en-US" sz="2000" dirty="0"/>
          </a:p>
          <a:p>
            <a:pPr marL="0" indent="0" algn="l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2</a:t>
            </a:r>
            <a:endParaRPr lang="en-US" sz="2000" dirty="0"/>
          </a:p>
          <a:p>
            <a:pPr marL="0" indent="0" algn="l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Tiêu đề và nội dung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9174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 slide</a:t>
            </a: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731520" y="148132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1828800"/>
            <a:ext cx="1072865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800"/>
              </a:spcAft>
              <a:buNone/>
              <a:def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Hai cột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9174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 slide</a:t>
            </a: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731520" y="148132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1828800"/>
            <a:ext cx="509000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800"/>
              </a:spcAft>
              <a:buNone/>
              <a:def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 trái</a:t>
            </a: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370168" y="1828800"/>
            <a:ext cx="509000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800"/>
              </a:spcAft>
              <a:buNone/>
              <a:def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 phải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So sánh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9174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 slide</a:t>
            </a: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731520" y="148132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1828800"/>
            <a:ext cx="509000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250" dirty="0">
                <a:solidFill>
                  <a:srgbClr val="9C570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defRPr>
            </a:lvl1pPr>
          </a:lstStyle>
          <a:p>
            <a:pPr marL="0" indent="0">
              <a:buNone/>
            </a:pPr>
            <a:r>
              <a:rPr lang="en-US" sz="1100" kern="0" spc="250" dirty="0">
                <a:solidFill>
                  <a:srgbClr val="9C570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NHÃN CỘT TRÁI</a:t>
            </a:r>
            <a:endParaRPr lang="en-US" sz="1100" dirty="0"/>
          </a:p>
        </p:txBody>
      </p:sp>
      <p:sp>
        <p:nvSpPr>
          <p:cNvPr id="6" name="Shape 1"/>
          <p:cNvSpPr/>
          <p:nvPr/>
        </p:nvSpPr>
        <p:spPr>
          <a:xfrm>
            <a:off x="731520" y="2267712"/>
            <a:ext cx="5090008" cy="18288"/>
          </a:xfrm>
          <a:prstGeom prst="rect">
            <a:avLst/>
          </a:prstGeom>
          <a:solidFill>
            <a:srgbClr val="264896"/>
          </a:solidFill>
          <a:ln/>
        </p:spPr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731520" y="2468880"/>
            <a:ext cx="5090008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800"/>
              </a:spcAft>
              <a:buNone/>
              <a:def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endParaRPr lang="en-US" sz="18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6370168" y="1828800"/>
            <a:ext cx="509000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250" dirty="0">
                <a:solidFill>
                  <a:srgbClr val="9C570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defRPr>
            </a:lvl1pPr>
          </a:lstStyle>
          <a:p>
            <a:pPr marL="0" indent="0">
              <a:buNone/>
            </a:pPr>
            <a:r>
              <a:rPr lang="en-US" sz="1100" kern="0" spc="250" dirty="0">
                <a:solidFill>
                  <a:srgbClr val="9C570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NHÃN CỘT PHẢI</a:t>
            </a:r>
            <a:endParaRPr lang="en-US" sz="1100" dirty="0"/>
          </a:p>
        </p:txBody>
      </p:sp>
      <p:sp>
        <p:nvSpPr>
          <p:cNvPr id="9" name="Shape 2"/>
          <p:cNvSpPr/>
          <p:nvPr/>
        </p:nvSpPr>
        <p:spPr>
          <a:xfrm>
            <a:off x="6370168" y="2267712"/>
            <a:ext cx="5090008" cy="18288"/>
          </a:xfrm>
          <a:prstGeom prst="rect">
            <a:avLst/>
          </a:prstGeom>
          <a:solidFill>
            <a:srgbClr val="264896"/>
          </a:solidFill>
          <a:ln/>
        </p:spPr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6370168" y="2468880"/>
            <a:ext cx="5090008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800"/>
              </a:spcAft>
              <a:buNone/>
              <a:def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Nội dung dày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9174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 slide</a:t>
            </a:r>
            <a:endParaRPr lang="en-US" sz="2400" dirty="0"/>
          </a:p>
        </p:txBody>
      </p:sp>
      <p:sp>
        <p:nvSpPr>
          <p:cNvPr id="4" name="Shape 0"/>
          <p:cNvSpPr/>
          <p:nvPr/>
        </p:nvSpPr>
        <p:spPr>
          <a:xfrm>
            <a:off x="731520" y="148132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1783080"/>
            <a:ext cx="5135728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600"/>
              </a:spcAft>
              <a:buNone/>
              <a:def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 chi tiết (14 pt) cho bài gửi đọc</a:t>
            </a:r>
            <a:endParaRPr lang="en-US" sz="14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324448" y="1783080"/>
            <a:ext cx="5135728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600"/>
              </a:spcAft>
              <a:buNone/>
              <a:def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 chi tiết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Biểu đồ và bảng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9174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 slide</a:t>
            </a: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731520" y="148132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8442655" y="1828800"/>
            <a:ext cx="301752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800"/>
              </a:spcAft>
              <a:buNone/>
              <a:defRPr lang="en-US" sz="1800" dirty="0">
                <a:solidFill>
                  <a:srgbClr val="264896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6489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Thông điệp chính của biểu đồ</a:t>
            </a: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5760720"/>
            <a:ext cx="734537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dirty="0">
                <a:solidFill>
                  <a:srgbClr val="5C647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rgbClr val="5C647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 …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Ảnh và chữ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E6E1D5"/>
          </a:solidFill>
          <a:ln/>
        </p:spPr>
      </p:sp>
      <p:sp>
        <p:nvSpPr>
          <p:cNvPr id="3" name="Text 1"/>
          <p:cNvSpPr>
            <a:spLocks noGrp="1"/>
          </p:cNvSpPr>
          <p:nvPr>
            <p:ph idx="101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Chèn ảnh</a:t>
            </a:r>
            <a:endParaRPr lang="en-US" dirty="0"/>
          </a:p>
        </p:txBody>
      </p:sp>
      <p:pic>
        <p:nvPicPr>
          <p:cNvPr id="4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6309360" y="1234440"/>
            <a:ext cx="51508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</a:t>
            </a:r>
            <a:endParaRPr lang="en-US" sz="2800" dirty="0"/>
          </a:p>
        </p:txBody>
      </p:sp>
      <p:sp>
        <p:nvSpPr>
          <p:cNvPr id="6" name="Shape 1"/>
          <p:cNvSpPr/>
          <p:nvPr/>
        </p:nvSpPr>
        <p:spPr>
          <a:xfrm>
            <a:off x="6309360" y="276148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6309360" y="3063240"/>
            <a:ext cx="5150815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800"/>
              </a:spcAft>
              <a:buNone/>
              <a:def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Diễn giả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9174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 slide</a:t>
            </a: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731520" y="148132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1828800"/>
            <a:ext cx="2373554" cy="2254876"/>
          </a:xfrm>
          <a:prstGeom prst="rect">
            <a:avLst/>
          </a:prstGeom>
          <a:solidFill>
            <a:srgbClr val="E6E1D5"/>
          </a:solidFill>
          <a:ln/>
        </p:spPr>
      </p:sp>
      <p:sp>
        <p:nvSpPr>
          <p:cNvPr id="6" name="Text 2"/>
          <p:cNvSpPr>
            <a:spLocks noGrp="1"/>
          </p:cNvSpPr>
          <p:nvPr>
            <p:ph idx="104" hasCustomPrompt="1"/>
          </p:nvPr>
        </p:nvSpPr>
        <p:spPr>
          <a:xfrm>
            <a:off x="731520" y="1828800"/>
            <a:ext cx="2373554" cy="225487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Ảnh</a:t>
            </a:r>
            <a:endParaRPr lang="en-US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731520" y="4193404"/>
            <a:ext cx="2373554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và tên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 danh, đơn vị</a:t>
            </a:r>
            <a:endParaRPr lang="en-US" sz="1400" dirty="0"/>
          </a:p>
        </p:txBody>
      </p:sp>
      <p:sp>
        <p:nvSpPr>
          <p:cNvPr id="8" name="Shape 2"/>
          <p:cNvSpPr/>
          <p:nvPr/>
        </p:nvSpPr>
        <p:spPr>
          <a:xfrm>
            <a:off x="3516554" y="1828800"/>
            <a:ext cx="2373554" cy="2254876"/>
          </a:xfrm>
          <a:prstGeom prst="rect">
            <a:avLst/>
          </a:prstGeom>
          <a:solidFill>
            <a:srgbClr val="E6E1D5"/>
          </a:solidFill>
          <a:ln/>
        </p:spPr>
      </p:sp>
      <p:sp>
        <p:nvSpPr>
          <p:cNvPr id="9" name="Text 3"/>
          <p:cNvSpPr>
            <a:spLocks noGrp="1"/>
          </p:cNvSpPr>
          <p:nvPr>
            <p:ph idx="107" hasCustomPrompt="1"/>
          </p:nvPr>
        </p:nvSpPr>
        <p:spPr>
          <a:xfrm>
            <a:off x="3516554" y="1828800"/>
            <a:ext cx="2373554" cy="225487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Ảnh</a:t>
            </a:r>
            <a:endParaRPr lang="en-US" dirty="0"/>
          </a:p>
        </p:txBody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3516554" y="4193404"/>
            <a:ext cx="2373554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và tên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 danh, đơn vị</a:t>
            </a:r>
            <a:endParaRPr lang="en-US" sz="1400" dirty="0"/>
          </a:p>
        </p:txBody>
      </p:sp>
      <p:sp>
        <p:nvSpPr>
          <p:cNvPr id="11" name="Shape 3"/>
          <p:cNvSpPr/>
          <p:nvPr/>
        </p:nvSpPr>
        <p:spPr>
          <a:xfrm>
            <a:off x="6301588" y="1828800"/>
            <a:ext cx="2373554" cy="2254876"/>
          </a:xfrm>
          <a:prstGeom prst="rect">
            <a:avLst/>
          </a:prstGeom>
          <a:solidFill>
            <a:srgbClr val="E6E1D5"/>
          </a:solidFill>
          <a:ln/>
        </p:spPr>
      </p:sp>
      <p:sp>
        <p:nvSpPr>
          <p:cNvPr id="12" name="Text 4"/>
          <p:cNvSpPr>
            <a:spLocks noGrp="1"/>
          </p:cNvSpPr>
          <p:nvPr>
            <p:ph idx="110" hasCustomPrompt="1"/>
          </p:nvPr>
        </p:nvSpPr>
        <p:spPr>
          <a:xfrm>
            <a:off x="6301588" y="1828800"/>
            <a:ext cx="2373554" cy="225487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Ảnh</a:t>
            </a:r>
            <a:endParaRPr lang="en-US" dirty="0"/>
          </a:p>
        </p:txBody>
      </p:sp>
      <p:sp>
        <p:nvSpPr>
          <p:cNvPr id="13" name="Text 4"/>
          <p:cNvSpPr>
            <a:spLocks noGrp="1"/>
          </p:cNvSpPr>
          <p:nvPr>
            <p:ph type="body" idx="111" hasCustomPrompt="1"/>
          </p:nvPr>
        </p:nvSpPr>
        <p:spPr>
          <a:xfrm>
            <a:off x="6301588" y="4193404"/>
            <a:ext cx="2373554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và tên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 danh, đơn vị</a:t>
            </a:r>
            <a:endParaRPr lang="en-US" sz="1400" dirty="0"/>
          </a:p>
        </p:txBody>
      </p:sp>
      <p:sp>
        <p:nvSpPr>
          <p:cNvPr id="14" name="Shape 4"/>
          <p:cNvSpPr/>
          <p:nvPr/>
        </p:nvSpPr>
        <p:spPr>
          <a:xfrm>
            <a:off x="9086621" y="1828800"/>
            <a:ext cx="2373554" cy="2254876"/>
          </a:xfrm>
          <a:prstGeom prst="rect">
            <a:avLst/>
          </a:prstGeom>
          <a:solidFill>
            <a:srgbClr val="E6E1D5"/>
          </a:solidFill>
          <a:ln/>
        </p:spPr>
      </p:sp>
      <p:sp>
        <p:nvSpPr>
          <p:cNvPr id="15" name="Text 5"/>
          <p:cNvSpPr>
            <a:spLocks noGrp="1"/>
          </p:cNvSpPr>
          <p:nvPr>
            <p:ph idx="113" hasCustomPrompt="1"/>
          </p:nvPr>
        </p:nvSpPr>
        <p:spPr>
          <a:xfrm>
            <a:off x="9086621" y="1828800"/>
            <a:ext cx="2373554" cy="225487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Ảnh</a:t>
            </a:r>
            <a:endParaRPr lang="en-US" dirty="0"/>
          </a:p>
        </p:txBody>
      </p:sp>
      <p:sp>
        <p:nvSpPr>
          <p:cNvPr id="16" name="Text 5"/>
          <p:cNvSpPr>
            <a:spLocks noGrp="1"/>
          </p:cNvSpPr>
          <p:nvPr>
            <p:ph type="body" idx="114" hasCustomPrompt="1"/>
          </p:nvPr>
        </p:nvSpPr>
        <p:spPr>
          <a:xfrm>
            <a:off x="9086621" y="4193404"/>
            <a:ext cx="2373554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và tên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61A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 danh, đơn vị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Chỉ có tiêu đề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9174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264896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Tiêu đề slide</a:t>
            </a: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731520" y="1481328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Trống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188720" cy="3576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Bìa sự kiệ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neco\Dropbox\01_WORK\Other Projects\VCCI Brand Style\brand-assets\01_Logo\PNG\VCCI_Logo_Primary_Plate_12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3108960" cy="123322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2514600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Tên sự kiện</a:t>
            </a: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57200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i="1" dirty="0">
                <a:solidFill>
                  <a:srgbClr val="C9D3EA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pPr marL="0" indent="0">
              <a:buNone/>
            </a:pPr>
            <a:r>
              <a:rPr lang="en-US" sz="1800" i="1" dirty="0">
                <a:solidFill>
                  <a:srgbClr val="C9D3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English event name</a:t>
            </a: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5715000"/>
            <a:ext cx="69494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 Nội · ngày/tháng/năm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Chuyển chươ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960120"/>
            <a:ext cx="3200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800" dirty="0">
                <a:solidFill>
                  <a:srgbClr val="FFCD00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>
              <a:buNone/>
            </a:pPr>
            <a:r>
              <a:rPr lang="en-US" sz="8800" dirty="0">
                <a:solidFill>
                  <a:srgbClr val="FFCD00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5146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Tên chương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34340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i="1" dirty="0">
                <a:solidFill>
                  <a:srgbClr val="C9D3EA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pPr marL="0" indent="0">
              <a:buNone/>
            </a:pPr>
            <a:r>
              <a:rPr lang="en-US" sz="1700" i="1" dirty="0">
                <a:solidFill>
                  <a:srgbClr val="C9D3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Chapter title in English</a:t>
            </a:r>
            <a:endParaRPr lang="en-US" sz="1700" dirty="0"/>
          </a:p>
        </p:txBody>
      </p:sp>
      <p:sp>
        <p:nvSpPr>
          <p:cNvPr id="5" name="Text 0"/>
          <p:cNvSpPr>
            <a:spLocks noGrp="1"/>
          </p:cNvSpPr>
          <p:nvPr>
            <p:ph idx="103" hasCustomPrompt="1"/>
          </p:nvPr>
        </p:nvSpPr>
        <p:spPr>
          <a:xfrm>
            <a:off x="9052560" y="2651760"/>
            <a:ext cx="1554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Hero icon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Số liệu nổi bậ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Số liệu nổi bật</a:t>
            </a: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731520" y="2103120"/>
            <a:ext cx="3271418" cy="27432"/>
          </a:xfrm>
          <a:prstGeom prst="rect">
            <a:avLst/>
          </a:prstGeom>
          <a:solidFill>
            <a:srgbClr val="6F86C2"/>
          </a:solidFill>
          <a:ln/>
        </p:spPr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286000"/>
            <a:ext cx="3271418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dirty="0">
                <a:solidFill>
                  <a:srgbClr val="FFCD00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>
              <a:buNone/>
            </a:pPr>
            <a:r>
              <a:rPr lang="en-US" sz="6000" dirty="0">
                <a:solidFill>
                  <a:srgbClr val="FFCD00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00</a:t>
            </a:r>
            <a:endParaRPr lang="en-US" sz="6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 ngắn cho con số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4460138" y="2103120"/>
            <a:ext cx="3271418" cy="27432"/>
          </a:xfrm>
          <a:prstGeom prst="rect">
            <a:avLst/>
          </a:prstGeom>
          <a:solidFill>
            <a:srgbClr val="6F86C2"/>
          </a:solidFill>
          <a:ln/>
        </p:spPr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4460138" y="2286000"/>
            <a:ext cx="3271418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>
              <a:buNone/>
            </a:pPr>
            <a:r>
              <a:rPr lang="en-US" sz="60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00</a:t>
            </a:r>
            <a:endParaRPr lang="en-US" sz="60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4460138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 ngắn cho con số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8188757" y="2103120"/>
            <a:ext cx="3271418" cy="27432"/>
          </a:xfrm>
          <a:prstGeom prst="rect">
            <a:avLst/>
          </a:prstGeom>
          <a:solidFill>
            <a:srgbClr val="6F86C2"/>
          </a:solidFill>
          <a:ln/>
        </p:spPr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8188757" y="2286000"/>
            <a:ext cx="3271418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>
              <a:buNone/>
            </a:pPr>
            <a:r>
              <a:rPr lang="en-US" sz="60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00</a:t>
            </a:r>
            <a:endParaRPr lang="en-US" sz="6000" dirty="0"/>
          </a:p>
        </p:txBody>
      </p:sp>
      <p:sp>
        <p:nvSpPr>
          <p:cNvPr id="11" name="Text 3"/>
          <p:cNvSpPr>
            <a:spLocks noGrp="1"/>
          </p:cNvSpPr>
          <p:nvPr>
            <p:ph type="body" idx="109" hasCustomPrompt="1"/>
          </p:nvPr>
        </p:nvSpPr>
        <p:spPr>
          <a:xfrm>
            <a:off x="8188757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 ngắn cho con số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uyên bố lớ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566928" cy="50292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828800"/>
            <a:ext cx="950976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Một câu thông điệp lớn, tối đa ba dòng.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chú hoặc nguồn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Trích dẫ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dirty="0">
                <a:solidFill>
                  <a:srgbClr val="FFCD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874520"/>
            <a:ext cx="950976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Nội dung trích dẫn, tối đa bốn dòng.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47548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và tên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3E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 danh, đơn vị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Ảnh toàn khung">
    <p:bg>
      <p:bgPr>
        <a:solidFill>
          <a:srgbClr val="264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806440"/>
          </a:xfrm>
          <a:prstGeom prst="rect">
            <a:avLst/>
          </a:prstGeom>
          <a:solidFill>
            <a:srgbClr val="E6E1D5"/>
          </a:solidFill>
          <a:ln/>
        </p:spPr>
      </p:sp>
      <p:sp>
        <p:nvSpPr>
          <p:cNvPr id="3" name="Text 1"/>
          <p:cNvSpPr>
            <a:spLocks noGrp="1"/>
          </p:cNvSpPr>
          <p:nvPr>
            <p:ph idx="101" hasCustomPrompt="1"/>
          </p:nvPr>
        </p:nvSpPr>
        <p:spPr>
          <a:xfrm>
            <a:off x="0" y="0"/>
            <a:ext cx="12191695" cy="5806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Chèn ảnh</a:t>
            </a:r>
            <a:endParaRPr lang="en-US" dirty="0"/>
          </a:p>
        </p:txBody>
      </p:sp>
      <p:pic>
        <p:nvPicPr>
          <p:cNvPr id="4" name="Image 0" descr="C:\Users\vneco\Dropbox\01_WORK\Other Projects\VCCI Brand Style\build\ppt\art\blue_plain.png"/>
          <p:cNvPicPr>
            <a:picLocks noChangeAspect="1"/>
          </p:cNvPicPr>
          <p:nvPr/>
        </p:nvPicPr>
        <p:blipFill>
          <a:blip r:embed="rId2"/>
          <a:srcRect t="552174" b="-552174"/>
          <a:stretch/>
        </p:blipFill>
        <p:spPr>
          <a:xfrm>
            <a:off x="0" y="5806440"/>
            <a:ext cx="12191695" cy="1051560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5943600"/>
            <a:ext cx="963137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 thích ảnh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 Kết thú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309360" y="109728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defRPr>
            </a:lvl1pPr>
          </a:lstStyle>
          <a:p>
            <a:pPr marL="0" indent="0" algn="l">
              <a:buNone/>
            </a:pPr>
            <a:r>
              <a:rPr lang="en-US" sz="54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Cảm ơn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309360" y="2423160"/>
            <a:ext cx="5120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i="1" dirty="0">
                <a:solidFill>
                  <a:srgbClr val="C9D3EA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pPr marL="0" indent="0">
              <a:buNone/>
            </a:pPr>
            <a:r>
              <a:rPr lang="en-US" sz="2000" i="1" dirty="0">
                <a:solidFill>
                  <a:srgbClr val="C9D3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2000" dirty="0"/>
          </a:p>
        </p:txBody>
      </p:sp>
      <p:pic>
        <p:nvPicPr>
          <p:cNvPr id="4" name="Image 0" descr="C:\Users\vneco\Dropbox\01_WORK\Other Projects\VCCI Brand Style\brand-assets\01_Logo\PNG\VCCI_Logo_Primary_12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657600"/>
            <a:ext cx="2377440" cy="715213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675120" y="4526280"/>
            <a:ext cx="448056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200"/>
              </a:spcAft>
              <a:buNone/>
              <a:defRPr lang="en-US" sz="1200" dirty="0">
                <a:solidFill>
                  <a:srgbClr val="5C647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defRPr>
            </a:lvl1pPr>
          </a:lstStyle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647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 đoàn Thương mại và Công nghiệp Việt Nam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647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9 Đào Duy Anh, Đống Đa, Hà Nội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647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vcci.com.vn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Bài trình bày mẫu về môi trường kinh doanh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Minh họa skill vcci-brand · số liệu giả lập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Bài trình bày mẫu · Số liệu giả lập, không phải kết quả khảo sát thật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Nội dung trình bày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01</a:t>
            </a:r>
            <a:r>
              <a:rPr/>
              <a:t>   Bức tranh chung</a:t>
            </a:r>
          </a:p>
          <a:p>
            <a:pPr marL="0" indent="0">
              <a:buNone/>
            </a:pPr>
            <a:r>
              <a:rPr b="1"/>
              <a:t>02</a:t>
            </a:r>
            <a:r>
              <a:rPr/>
              <a:t>   Những điểm nghẽn chính</a:t>
            </a:r>
          </a:p>
          <a:p>
            <a:pPr marL="0" indent="0">
              <a:buNone/>
            </a:pPr>
            <a:r>
              <a:rPr b="1"/>
              <a:t>03</a:t>
            </a:r>
            <a:r>
              <a:rPr/>
              <a:t>   Khuyến nghị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Bức tranh chung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The business environment at a glance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pic>
        <p:nvPicPr>
          <p:cNvPr id="9002" name="Picture 9001" descr="VCCI_Hero_21_research-index_512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651760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Những phát hiện chính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Chi phí tuân thủ thủ tục hành chính tiếp tục giảm ở phần lớn địa phương.</a:t>
            </a:r>
          </a:p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Doanh nghiệp đánh giá cao dịch vụ công trực tuyến, nhưng chất lượng chưa đồng đều.</a:t>
            </a:r>
          </a:p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Tiếp cận đất đai và tín dụng vẫn là hai vướng mắc lớn nhất.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Kết quả khảo sát mẫu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solidFill>
                  <a:srgbClr val="FFCD00"/>
                </a:solidFill>
              </a:rPr>
              <a:t>12.500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doanh nghiệp tham gia khảo sát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34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tỉnh, thành phố được đánh giá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71%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đánh giá môi trường kinh doanh cải thiện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Chỉ số tăng đều qua 5 năm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Năm 2025 đạt mức cao nhất (cột vàng).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Nguồn: số liệu giả lập để minh họa.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 spc="120">
                <a:solidFill>
                  <a:srgbClr val="9C570C"/>
                </a:solidFill>
                <a:latin typeface="Be Vietnam Pro SemiBold"/>
              </a:rPr>
              <a:t>XU HƯỚNG</a:t>
            </a:r>
          </a:p>
        </p:txBody>
      </p:sp>
      <p:graphicFrame>
        <p:nvGraphicFramePr>
          <p:cNvPr id="9003" name="Chart 9002"/>
          <p:cNvGraphicFramePr>
            <a:graphicFrameLocks noGrp="1"/>
          </p:cNvGraphicFramePr>
          <p:nvPr/>
        </p:nvGraphicFramePr>
        <p:xfrm>
          <a:off x="731520" y="1828800"/>
          <a:ext cx="7342631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Những điểm nghẽn chính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pic>
        <p:nvPicPr>
          <p:cNvPr id="9002" name="Picture 9001" descr="VCCI_Hero_04_administrative-reform_512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651760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Đất đai và thanh tra là hai lĩnh vực bị phản ánh nhiều nhất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 spc="120">
                <a:solidFill>
                  <a:srgbClr val="9C570C"/>
                </a:solidFill>
                <a:latin typeface="Be Vietnam Pro SemiBold"/>
              </a:rPr>
              <a:t>ĐIỂM NGHẼN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731520" y="1572768"/>
            <a:ext cx="10725912" cy="3155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sz="1500">
                <a:solidFill>
                  <a:srgbClr val="5C6478"/>
                </a:solidFill>
                <a:latin typeface="Be Vietnam Pro"/>
              </a:rPr>
              <a:t>Tỷ lệ doanh nghiệp phản ánh phiền hà theo lĩnh vực thủ tục.</a:t>
            </a:r>
          </a:p>
        </p:txBody>
      </p:sp>
      <p:sp>
        <p:nvSpPr>
          <p:cNvPr id="9004" name="TextBox 9003"/>
          <p:cNvSpPr txBox="1"/>
          <p:nvPr/>
        </p:nvSpPr>
        <p:spPr>
          <a:xfrm>
            <a:off x="731520" y="5897880"/>
            <a:ext cx="10725912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sz="1000">
                <a:solidFill>
                  <a:srgbClr val="5C6478"/>
                </a:solidFill>
                <a:latin typeface="Be Vietnam Pro"/>
              </a:rPr>
              <a:t>Nguồn: số liệu giả lập để minh họa.</a:t>
            </a:r>
          </a:p>
        </p:txBody>
      </p:sp>
      <p:sp>
        <p:nvSpPr>
          <p:cNvPr id="9005" name="Rectangle 9004"/>
          <p:cNvSpPr/>
          <p:nvPr/>
        </p:nvSpPr>
        <p:spPr>
          <a:xfrm>
            <a:off x="731520" y="2071243"/>
            <a:ext cx="3422904" cy="1910080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06" name="Rectangle 9005"/>
          <p:cNvSpPr/>
          <p:nvPr/>
        </p:nvSpPr>
        <p:spPr>
          <a:xfrm>
            <a:off x="731520" y="2071243"/>
            <a:ext cx="54864" cy="1910080"/>
          </a:xfrm>
          <a:prstGeom prst="rect">
            <a:avLst/>
          </a:prstGeom>
          <a:solidFill>
            <a:srgbClr val="264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07" name="TextBox 9006"/>
          <p:cNvSpPr txBox="1"/>
          <p:nvPr/>
        </p:nvSpPr>
        <p:spPr>
          <a:xfrm>
            <a:off x="960120" y="2254123"/>
            <a:ext cx="30571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3600">
                <a:solidFill>
                  <a:srgbClr val="264896"/>
                </a:solidFill>
                <a:latin typeface="Lora Medium"/>
              </a:rPr>
              <a:t>39,3%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960120" y="2967355"/>
            <a:ext cx="3057144" cy="995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300">
                <a:solidFill>
                  <a:srgbClr val="161A26"/>
                </a:solidFill>
                <a:latin typeface="Be Vietnam Pro"/>
              </a:rPr>
              <a:t>phản ánh phiền hà về đất đai, giải phóng mặt bằng</a:t>
            </a:r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>
                <a:solidFill>
                  <a:srgbClr val="5C6478"/>
                </a:solidFill>
                <a:latin typeface="Be Vietnam Pro"/>
              </a:rPr>
              <a:t>Trung vị: 30,1%</a:t>
            </a:r>
          </a:p>
        </p:txBody>
      </p:sp>
      <p:sp>
        <p:nvSpPr>
          <p:cNvPr id="9009" name="Rectangle 9008"/>
          <p:cNvSpPr/>
          <p:nvPr/>
        </p:nvSpPr>
        <p:spPr>
          <a:xfrm>
            <a:off x="4383024" y="2071243"/>
            <a:ext cx="3422904" cy="1910080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0" name="Rectangle 9009"/>
          <p:cNvSpPr/>
          <p:nvPr/>
        </p:nvSpPr>
        <p:spPr>
          <a:xfrm>
            <a:off x="4383024" y="2071243"/>
            <a:ext cx="54864" cy="1910080"/>
          </a:xfrm>
          <a:prstGeom prst="rect">
            <a:avLst/>
          </a:prstGeom>
          <a:solidFill>
            <a:srgbClr val="264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1" name="TextBox 9010"/>
          <p:cNvSpPr txBox="1"/>
          <p:nvPr/>
        </p:nvSpPr>
        <p:spPr>
          <a:xfrm>
            <a:off x="4611624" y="2254123"/>
            <a:ext cx="30571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3600">
                <a:solidFill>
                  <a:srgbClr val="264896"/>
                </a:solidFill>
                <a:latin typeface="Lora Medium"/>
              </a:rPr>
              <a:t>17,2%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4611624" y="2967355"/>
            <a:ext cx="3057144" cy="995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300">
                <a:solidFill>
                  <a:srgbClr val="161A26"/>
                </a:solidFill>
                <a:latin typeface="Be Vietnam Pro"/>
              </a:rPr>
              <a:t>phản ánh thanh tra, kiểm tra trùng lặp</a:t>
            </a:r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>
                <a:solidFill>
                  <a:srgbClr val="5C6478"/>
                </a:solidFill>
                <a:latin typeface="Be Vietnam Pro"/>
              </a:rPr>
              <a:t>Trung vị: 8,9%</a:t>
            </a:r>
          </a:p>
        </p:txBody>
      </p:sp>
      <p:sp>
        <p:nvSpPr>
          <p:cNvPr id="9013" name="Rectangle 9012"/>
          <p:cNvSpPr/>
          <p:nvPr/>
        </p:nvSpPr>
        <p:spPr>
          <a:xfrm>
            <a:off x="8034528" y="2071243"/>
            <a:ext cx="3422904" cy="1910080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4" name="Rectangle 9013"/>
          <p:cNvSpPr/>
          <p:nvPr/>
        </p:nvSpPr>
        <p:spPr>
          <a:xfrm>
            <a:off x="8034528" y="2071243"/>
            <a:ext cx="54864" cy="1910080"/>
          </a:xfrm>
          <a:prstGeom prst="rect">
            <a:avLst/>
          </a:prstGeom>
          <a:solidFill>
            <a:srgbClr val="264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5" name="TextBox 9014"/>
          <p:cNvSpPr txBox="1"/>
          <p:nvPr/>
        </p:nvSpPr>
        <p:spPr>
          <a:xfrm>
            <a:off x="8263128" y="2254123"/>
            <a:ext cx="30571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3600">
                <a:solidFill>
                  <a:srgbClr val="264896"/>
                </a:solidFill>
                <a:latin typeface="Lora Medium"/>
              </a:rPr>
              <a:t>2,15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8263128" y="2967355"/>
            <a:ext cx="3057144" cy="995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300">
                <a:solidFill>
                  <a:srgbClr val="161A26"/>
                </a:solidFill>
                <a:latin typeface="Be Vietnam Pro"/>
              </a:rPr>
              <a:t>điểm cảm nhận rủi ro bị thu hồi đất (thang 5)</a:t>
            </a:r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>
                <a:solidFill>
                  <a:srgbClr val="5C6478"/>
                </a:solidFill>
                <a:latin typeface="Be Vietnam Pro"/>
              </a:rPr>
              <a:t>Trung vị: 1,82</a:t>
            </a:r>
          </a:p>
        </p:txBody>
      </p:sp>
      <p:sp>
        <p:nvSpPr>
          <p:cNvPr id="9017" name="Rectangle 9016"/>
          <p:cNvSpPr/>
          <p:nvPr/>
        </p:nvSpPr>
        <p:spPr>
          <a:xfrm>
            <a:off x="731520" y="4209923"/>
            <a:ext cx="10725912" cy="529590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8" name="Rectangle 9017"/>
          <p:cNvSpPr/>
          <p:nvPr/>
        </p:nvSpPr>
        <p:spPr>
          <a:xfrm>
            <a:off x="731520" y="4209923"/>
            <a:ext cx="54864" cy="529590"/>
          </a:xfrm>
          <a:prstGeom prst="rect">
            <a:avLst/>
          </a:prstGeom>
          <a:solidFill>
            <a:srgbClr val="264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9" name="TextBox 9018"/>
          <p:cNvSpPr txBox="1"/>
          <p:nvPr/>
        </p:nvSpPr>
        <p:spPr>
          <a:xfrm>
            <a:off x="1005840" y="4347083"/>
            <a:ext cx="10268712" cy="25526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161A26"/>
                </a:solidFill>
                <a:latin typeface="Be Vietnam Pro"/>
              </a:rPr>
              <a:t>Hàm ý:</a:t>
            </a:r>
            <a:r>
              <a:rPr sz="1400">
                <a:solidFill>
                  <a:srgbClr val="161A26"/>
                </a:solidFill>
                <a:latin typeface="Be Vietnam Pro"/>
              </a:rPr>
              <a:t> công khai thông tin quy hoạch, quỹ đất và phối hợp kế hoạch thanh tra giữa các cơ quan.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Ba thế mạnh, bốn lĩnh vực cần ưu tiên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 b="1"/>
              <a:t>Thế mạnh:</a:t>
            </a:r>
            <a:r>
              <a:rPr/>
              <a:t> điều hành năng động, cạnh tranh bình đẳng</a:t>
            </a:r>
          </a:p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 b="1"/>
              <a:t>Cần ưu tiên:</a:t>
            </a:r>
            <a:r>
              <a:rPr/>
              <a:t> chi phí tuân thủ, gia nhập thị trường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Nguồn: số liệu giả lập để minh họa.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 spc="120">
                <a:solidFill>
                  <a:srgbClr val="9C570C"/>
                </a:solidFill>
                <a:latin typeface="Be Vietnam Pro SemiBold"/>
              </a:rPr>
              <a:t>SO VỚI TRUNG VỊ</a:t>
            </a:r>
          </a:p>
        </p:txBody>
      </p:sp>
      <p:graphicFrame>
        <p:nvGraphicFramePr>
          <p:cNvPr id="9003" name="Chart 9002"/>
          <p:cNvGraphicFramePr>
            <a:graphicFrameLocks noGrp="1"/>
          </p:cNvGraphicFramePr>
          <p:nvPr/>
        </p:nvGraphicFramePr>
        <p:xfrm>
          <a:off x="731520" y="1828800"/>
          <a:ext cx="7342631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Từ điểm nghẽn đến hệ quả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 spc="120">
                <a:solidFill>
                  <a:srgbClr val="9C570C"/>
                </a:solidFill>
                <a:latin typeface="Be Vietnam Pro SemiBold"/>
              </a:rPr>
              <a:t>CHUỖI TÁC ĐỘNG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731520" y="1828800"/>
            <a:ext cx="10725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sz="1300">
                <a:solidFill>
                  <a:srgbClr val="5C6478"/>
                </a:solidFill>
                <a:latin typeface="Be Vietnam Pro SemiBold"/>
              </a:rPr>
              <a:t>Ảnh hưởng lâu dài</a:t>
            </a:r>
          </a:p>
        </p:txBody>
      </p:sp>
      <p:sp>
        <p:nvSpPr>
          <p:cNvPr id="9004" name="Rectangle 9003"/>
          <p:cNvSpPr/>
          <p:nvPr/>
        </p:nvSpPr>
        <p:spPr>
          <a:xfrm>
            <a:off x="731520" y="2148840"/>
            <a:ext cx="2372868" cy="995679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868680" y="2286000"/>
            <a:ext cx="2098548" cy="721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1">
                <a:solidFill>
                  <a:srgbClr val="264896"/>
                </a:solidFill>
                <a:latin typeface="Be Vietnam Pro"/>
              </a:rPr>
              <a:t>Thiếu mặt bằng ổn định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200">
                <a:solidFill>
                  <a:srgbClr val="161A26"/>
                </a:solidFill>
                <a:latin typeface="Be Vietnam Pro"/>
              </a:rPr>
              <a:t>Doanh nghiệp thuê ngắn hạn, khó đầu tư dài hạn</a:t>
            </a:r>
          </a:p>
        </p:txBody>
      </p:sp>
      <p:sp>
        <p:nvSpPr>
          <p:cNvPr id="9006" name="Chevron 9005"/>
          <p:cNvSpPr/>
          <p:nvPr/>
        </p:nvSpPr>
        <p:spPr>
          <a:xfrm>
            <a:off x="3214116" y="2500376"/>
            <a:ext cx="201168" cy="292608"/>
          </a:xfrm>
          <a:prstGeom prst="chevron">
            <a:avLst/>
          </a:prstGeom>
          <a:solidFill>
            <a:srgbClr val="CC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Rectangle 9006"/>
          <p:cNvSpPr/>
          <p:nvPr/>
        </p:nvSpPr>
        <p:spPr>
          <a:xfrm>
            <a:off x="3515868" y="2148840"/>
            <a:ext cx="2372868" cy="995679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08" name="TextBox 9007"/>
          <p:cNvSpPr txBox="1"/>
          <p:nvPr/>
        </p:nvSpPr>
        <p:spPr>
          <a:xfrm>
            <a:off x="3653028" y="2286000"/>
            <a:ext cx="2098548" cy="721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1">
                <a:solidFill>
                  <a:srgbClr val="264896"/>
                </a:solidFill>
                <a:latin typeface="Be Vietnam Pro"/>
              </a:rPr>
              <a:t>Giảm tài sản thế chấp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200">
                <a:solidFill>
                  <a:srgbClr val="161A26"/>
                </a:solidFill>
                <a:latin typeface="Be Vietnam Pro"/>
              </a:rPr>
              <a:t>Ngân hàng yêu cầu tài sản đảm bảo</a:t>
            </a:r>
          </a:p>
        </p:txBody>
      </p:sp>
      <p:sp>
        <p:nvSpPr>
          <p:cNvPr id="9009" name="Chevron 9008"/>
          <p:cNvSpPr/>
          <p:nvPr/>
        </p:nvSpPr>
        <p:spPr>
          <a:xfrm>
            <a:off x="5998464" y="2500376"/>
            <a:ext cx="201168" cy="292608"/>
          </a:xfrm>
          <a:prstGeom prst="chevron">
            <a:avLst/>
          </a:prstGeom>
          <a:solidFill>
            <a:srgbClr val="CC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Rectangle 9009"/>
          <p:cNvSpPr/>
          <p:nvPr/>
        </p:nvSpPr>
        <p:spPr>
          <a:xfrm>
            <a:off x="6300216" y="2148840"/>
            <a:ext cx="2372868" cy="995679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1" name="TextBox 9010"/>
          <p:cNvSpPr txBox="1"/>
          <p:nvPr/>
        </p:nvSpPr>
        <p:spPr>
          <a:xfrm>
            <a:off x="6437376" y="2286000"/>
            <a:ext cx="2098548" cy="721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1">
                <a:solidFill>
                  <a:srgbClr val="264896"/>
                </a:solidFill>
                <a:latin typeface="Be Vietnam Pro"/>
              </a:rPr>
              <a:t>Hạn chế tiếp cận tín dụng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200">
                <a:solidFill>
                  <a:srgbClr val="161A26"/>
                </a:solidFill>
                <a:latin typeface="Be Vietnam Pro"/>
              </a:rPr>
              <a:t>Vốn vay đắt và khó hơn</a:t>
            </a:r>
          </a:p>
        </p:txBody>
      </p:sp>
      <p:sp>
        <p:nvSpPr>
          <p:cNvPr id="9012" name="Chevron 9011"/>
          <p:cNvSpPr/>
          <p:nvPr/>
        </p:nvSpPr>
        <p:spPr>
          <a:xfrm>
            <a:off x="8782812" y="2500376"/>
            <a:ext cx="201168" cy="292608"/>
          </a:xfrm>
          <a:prstGeom prst="chevron">
            <a:avLst/>
          </a:prstGeom>
          <a:solidFill>
            <a:srgbClr val="CC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Rectangle 9012"/>
          <p:cNvSpPr/>
          <p:nvPr/>
        </p:nvSpPr>
        <p:spPr>
          <a:xfrm>
            <a:off x="9084564" y="2148840"/>
            <a:ext cx="2372868" cy="995679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4" name="TextBox 9013"/>
          <p:cNvSpPr txBox="1"/>
          <p:nvPr/>
        </p:nvSpPr>
        <p:spPr>
          <a:xfrm>
            <a:off x="9221724" y="2286000"/>
            <a:ext cx="2098548" cy="721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1">
                <a:solidFill>
                  <a:srgbClr val="264896"/>
                </a:solidFill>
                <a:latin typeface="Be Vietnam Pro"/>
              </a:rPr>
              <a:t>Khó mở rộng đầu tư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200">
                <a:solidFill>
                  <a:srgbClr val="161A26"/>
                </a:solidFill>
                <a:latin typeface="Be Vietnam Pro"/>
              </a:rPr>
              <a:t>Kế hoạch mở rộng bị hoãn</a:t>
            </a:r>
          </a:p>
        </p:txBody>
      </p:sp>
      <p:sp>
        <p:nvSpPr>
          <p:cNvPr id="9015" name="Rectangle 9014"/>
          <p:cNvSpPr/>
          <p:nvPr/>
        </p:nvSpPr>
        <p:spPr>
          <a:xfrm>
            <a:off x="731520" y="3373120"/>
            <a:ext cx="10725912" cy="529590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6" name="Rectangle 9015"/>
          <p:cNvSpPr/>
          <p:nvPr/>
        </p:nvSpPr>
        <p:spPr>
          <a:xfrm>
            <a:off x="731520" y="3373120"/>
            <a:ext cx="54864" cy="529590"/>
          </a:xfrm>
          <a:prstGeom prst="rect">
            <a:avLst/>
          </a:prstGeom>
          <a:solidFill>
            <a:srgbClr val="264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7" name="TextBox 9016"/>
          <p:cNvSpPr txBox="1"/>
          <p:nvPr/>
        </p:nvSpPr>
        <p:spPr>
          <a:xfrm>
            <a:off x="1005840" y="3510279"/>
            <a:ext cx="10268712" cy="25526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400" b="1">
                <a:solidFill>
                  <a:srgbClr val="161A26"/>
                </a:solidFill>
                <a:latin typeface="Be Vietnam Pro"/>
              </a:rPr>
              <a:t>Lưu ý:</a:t>
            </a:r>
            <a:r>
              <a:rPr sz="1400">
                <a:solidFill>
                  <a:srgbClr val="161A26"/>
                </a:solidFill>
                <a:latin typeface="Be Vietnam Pro"/>
              </a:rPr>
              <a:t> chuỗi tác động này chỉ minh họa cách trình bày, không phải kết luận nghiên cứu.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Trước và sau cải cách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Trước 2024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Thủ tục cấp phép: 22 ngày</a:t>
            </a:r>
          </a:p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Hồ sơ giấy, nộp trực tiếp</a:t>
            </a:r>
          </a:p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Nhiều đầu mối xử lý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Sau 2025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Thủ tục cấp phép: 9 ngày</a:t>
            </a:r>
          </a:p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Hồ sơ điện tử, liên thông</a:t>
            </a:r>
          </a:p>
          <a:p>
            <a:pPr marL="256032" indent="-256032">
              <a:buClr>
                <a:srgbClr val="264896"/>
              </a:buClr>
              <a:buSzPct val="70000"/>
              <a:buChar char="■"/>
            </a:pPr>
            <a:r>
              <a:rPr/>
              <a:t>Một cửa, một đầu mối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“Điều doanh nghiệp cần nhất là một môi trường kinh doanh ổn định, minh bạch và có thể dự báo được.”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[Họ và tên], [Chức danh, doanh nghiệp]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Khuyến nghị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pic>
        <p:nvPicPr>
          <p:cNvPr id="9002" name="Picture 9001" descr="VCCI_Hero_03_business-environment-reform_512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651760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Ba nhóm giải pháp ưu tiên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 spc="120">
                <a:solidFill>
                  <a:srgbClr val="9C570C"/>
                </a:solidFill>
                <a:latin typeface="Be Vietnam Pro SemiBold"/>
              </a:rPr>
              <a:t>KHUYẾN NGHỊ</a:t>
            </a:r>
          </a:p>
        </p:txBody>
      </p:sp>
      <p:sp>
        <p:nvSpPr>
          <p:cNvPr id="9003" name="Rectangle 9002"/>
          <p:cNvSpPr/>
          <p:nvPr/>
        </p:nvSpPr>
        <p:spPr>
          <a:xfrm>
            <a:off x="731520" y="1828800"/>
            <a:ext cx="3422904" cy="1751329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04" name="Rectangle 9003"/>
          <p:cNvSpPr/>
          <p:nvPr/>
        </p:nvSpPr>
        <p:spPr>
          <a:xfrm>
            <a:off x="731520" y="1828800"/>
            <a:ext cx="3422904" cy="54864"/>
          </a:xfrm>
          <a:prstGeom prst="rect">
            <a:avLst/>
          </a:prstGeom>
          <a:solidFill>
            <a:srgbClr val="264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932688" y="2057400"/>
            <a:ext cx="3057144" cy="2832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sz="1700">
                <a:solidFill>
                  <a:srgbClr val="264896"/>
                </a:solidFill>
                <a:latin typeface="Lora Medium"/>
              </a:rPr>
              <a:t>Chính sách rõ ràng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932688" y="2450338"/>
            <a:ext cx="3057144" cy="965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6032" indent="-256032">
              <a:lnSpc>
                <a:spcPct val="110000"/>
              </a:lnSpc>
              <a:spcAft>
                <a:spcPts val="400"/>
              </a:spcAft>
              <a:buClr>
                <a:srgbClr val="264896"/>
              </a:buClr>
              <a:buSzPct val="70000"/>
              <a:buChar char="■"/>
            </a:pPr>
            <a:r>
              <a:rPr sz="1400">
                <a:solidFill>
                  <a:srgbClr val="161A26"/>
                </a:solidFill>
                <a:latin typeface="Be Vietnam Pro"/>
              </a:rPr>
              <a:t>Chuẩn hóa hướng dẫn thủ tục</a:t>
            </a:r>
          </a:p>
          <a:p>
            <a:pPr marL="256032" indent="-256032">
              <a:lnSpc>
                <a:spcPct val="110000"/>
              </a:lnSpc>
              <a:spcAft>
                <a:spcPts val="400"/>
              </a:spcAft>
              <a:buClr>
                <a:srgbClr val="264896"/>
              </a:buClr>
              <a:buSzPct val="70000"/>
              <a:buChar char="■"/>
            </a:pPr>
            <a:r>
              <a:rPr sz="1400">
                <a:solidFill>
                  <a:srgbClr val="161A26"/>
                </a:solidFill>
                <a:latin typeface="Be Vietnam Pro"/>
              </a:rPr>
              <a:t>Công khai dữ liệu đất đai, quy hoạch</a:t>
            </a:r>
          </a:p>
        </p:txBody>
      </p:sp>
      <p:sp>
        <p:nvSpPr>
          <p:cNvPr id="9007" name="Rectangle 9006"/>
          <p:cNvSpPr/>
          <p:nvPr/>
        </p:nvSpPr>
        <p:spPr>
          <a:xfrm>
            <a:off x="4383024" y="1828800"/>
            <a:ext cx="3422904" cy="1751329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08" name="Rectangle 9007"/>
          <p:cNvSpPr/>
          <p:nvPr/>
        </p:nvSpPr>
        <p:spPr>
          <a:xfrm>
            <a:off x="4383024" y="1828800"/>
            <a:ext cx="3422904" cy="54864"/>
          </a:xfrm>
          <a:prstGeom prst="rect">
            <a:avLst/>
          </a:prstGeom>
          <a:solidFill>
            <a:srgbClr val="264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09" name="TextBox 9008"/>
          <p:cNvSpPr txBox="1"/>
          <p:nvPr/>
        </p:nvSpPr>
        <p:spPr>
          <a:xfrm>
            <a:off x="4584192" y="2057400"/>
            <a:ext cx="3057144" cy="2832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sz="1700">
                <a:solidFill>
                  <a:srgbClr val="264896"/>
                </a:solidFill>
                <a:latin typeface="Lora Medium"/>
              </a:rPr>
              <a:t>Thực thi hiệu quả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4584192" y="2450338"/>
            <a:ext cx="3057144" cy="965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6032" indent="-256032">
              <a:lnSpc>
                <a:spcPct val="110000"/>
              </a:lnSpc>
              <a:spcAft>
                <a:spcPts val="400"/>
              </a:spcAft>
              <a:buClr>
                <a:srgbClr val="264896"/>
              </a:buClr>
              <a:buSzPct val="70000"/>
              <a:buChar char="■"/>
            </a:pPr>
            <a:r>
              <a:rPr sz="1400">
                <a:solidFill>
                  <a:srgbClr val="161A26"/>
                </a:solidFill>
                <a:latin typeface="Be Vietnam Pro"/>
              </a:rPr>
              <a:t>Rút ngắn thủ tục phát sinh thường xuyên</a:t>
            </a:r>
          </a:p>
          <a:p>
            <a:pPr marL="256032" indent="-256032">
              <a:lnSpc>
                <a:spcPct val="110000"/>
              </a:lnSpc>
              <a:spcAft>
                <a:spcPts val="400"/>
              </a:spcAft>
              <a:buClr>
                <a:srgbClr val="264896"/>
              </a:buClr>
              <a:buSzPct val="70000"/>
              <a:buChar char="■"/>
            </a:pPr>
            <a:r>
              <a:rPr sz="1400">
                <a:solidFill>
                  <a:srgbClr val="161A26"/>
                </a:solidFill>
                <a:latin typeface="Be Vietnam Pro"/>
              </a:rPr>
              <a:t>Giảm trùng lặp thanh tra, kiểm tra</a:t>
            </a:r>
          </a:p>
        </p:txBody>
      </p:sp>
      <p:sp>
        <p:nvSpPr>
          <p:cNvPr id="9011" name="Rectangle 9010"/>
          <p:cNvSpPr/>
          <p:nvPr/>
        </p:nvSpPr>
        <p:spPr>
          <a:xfrm>
            <a:off x="8034528" y="1828800"/>
            <a:ext cx="3422904" cy="1751329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2" name="Rectangle 9011"/>
          <p:cNvSpPr/>
          <p:nvPr/>
        </p:nvSpPr>
        <p:spPr>
          <a:xfrm>
            <a:off x="8034528" y="1828800"/>
            <a:ext cx="3422904" cy="54864"/>
          </a:xfrm>
          <a:prstGeom prst="rect">
            <a:avLst/>
          </a:prstGeom>
          <a:solidFill>
            <a:srgbClr val="264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3" name="TextBox 9012"/>
          <p:cNvSpPr txBox="1"/>
          <p:nvPr/>
        </p:nvSpPr>
        <p:spPr>
          <a:xfrm>
            <a:off x="8235696" y="2057400"/>
            <a:ext cx="3057144" cy="2832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sz="1700">
                <a:solidFill>
                  <a:srgbClr val="264896"/>
                </a:solidFill>
                <a:latin typeface="Lora Medium"/>
              </a:rPr>
              <a:t>Giải trình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8235696" y="2450338"/>
            <a:ext cx="3057144" cy="965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6032" indent="-256032">
              <a:lnSpc>
                <a:spcPct val="110000"/>
              </a:lnSpc>
              <a:spcAft>
                <a:spcPts val="400"/>
              </a:spcAft>
              <a:buClr>
                <a:srgbClr val="264896"/>
              </a:buClr>
              <a:buSzPct val="70000"/>
              <a:buChar char="■"/>
            </a:pPr>
            <a:r>
              <a:rPr sz="1400">
                <a:solidFill>
                  <a:srgbClr val="161A26"/>
                </a:solidFill>
                <a:latin typeface="Be Vietnam Pro"/>
              </a:rPr>
              <a:t>Theo dõi, phản hồi kiến nghị doanh nghiệp</a:t>
            </a:r>
          </a:p>
          <a:p>
            <a:pPr marL="256032" indent="-256032">
              <a:lnSpc>
                <a:spcPct val="110000"/>
              </a:lnSpc>
              <a:spcAft>
                <a:spcPts val="400"/>
              </a:spcAft>
              <a:buClr>
                <a:srgbClr val="264896"/>
              </a:buClr>
              <a:buSzPct val="70000"/>
              <a:buChar char="■"/>
            </a:pPr>
            <a:r>
              <a:rPr sz="1400">
                <a:solidFill>
                  <a:srgbClr val="161A26"/>
                </a:solidFill>
                <a:latin typeface="Be Vietnam Pro"/>
              </a:rPr>
              <a:t>Công bố kết quả xử lý định kỳ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Kế hoạch hành động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478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5C6478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731520" y="1828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sz="1100" spc="120">
                <a:solidFill>
                  <a:srgbClr val="9C570C"/>
                </a:solidFill>
                <a:latin typeface="Be Vietnam Pro SemiBold"/>
              </a:rPr>
              <a:t>KHUYẾN NGHỊ · HÀNH ĐỘNG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731520" y="5897880"/>
            <a:ext cx="10725912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sz="1000">
                <a:solidFill>
                  <a:srgbClr val="5C6478"/>
                </a:solidFill>
                <a:latin typeface="Be Vietnam Pro"/>
              </a:rPr>
              <a:t>Nội dung giả lập để minh họa.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731520" y="1828800"/>
          <a:ext cx="10725910" cy="2194560"/>
        </p:xfrm>
        <a:graphic>
          <a:graphicData uri="http://schemas.openxmlformats.org/drawingml/2006/table">
            <a:tbl>
              <a:tblPr/>
              <a:tblGrid>
                <a:gridCol w="550046"/>
                <a:gridCol w="5225444"/>
                <a:gridCol w="3850327"/>
                <a:gridCol w="1100093"/>
              </a:tblGrid>
              <a:tr h="548640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  <a:buNone/>
                      </a:pP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6E1D5"/>
                      </a:solidFill>
                    </a:lnB>
                    <a:solidFill>
                      <a:srgbClr val="264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Be Vietnam Pro SemiBold"/>
                        </a:rPr>
                        <a:t>Việc cần làm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6E1D5"/>
                      </a:solidFill>
                    </a:lnB>
                    <a:solidFill>
                      <a:srgbClr val="264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Be Vietnam Pro SemiBold"/>
                        </a:rPr>
                        <a:t>Đầu mối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6E1D5"/>
                      </a:solidFill>
                    </a:lnB>
                    <a:solidFill>
                      <a:srgbClr val="264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Be Vietnam Pro SemiBold"/>
                        </a:rPr>
                        <a:t>Thời hạn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6E1D5"/>
                      </a:solidFill>
                    </a:lnB>
                    <a:solidFill>
                      <a:srgbClr val="26489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Rà soát quy trình đăng ký doanh nghiệp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Sở Tài chính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Quý I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Công khai quỹ đất dạng tra cứu được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Sở Nông nghiệp và Môi trường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Quý II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3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Phối hợp kế hoạch thanh tra liên ngành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Thanh tra tỉnh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400">
                          <a:solidFill>
                            <a:srgbClr val="161A26"/>
                          </a:solidFill>
                          <a:latin typeface="Be Vietnam Pro"/>
                        </a:rPr>
                        <a:t>Quý II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E1D5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Doanh nghiệp vững mạnh là nền tảng của một nền kinh tế tự chủ.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Thông điệp mẫu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3679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C6E4"/>
                </a:solidFill>
                <a:latin typeface="Be Vietnam Pro"/>
                <a:ea typeface="Be Vietnam Pro"/>
                <a:cs typeface="Be Vietnam Pro"/>
              </a:defRPr>
            </a:lvl1pPr>
          </a:lstStyle>
          <a:p>
            <a:fld id="{B6F15528-21DE-4FAA-801E-634DDDAF4B2B}" type="slidenum">
              <a:rPr lang="vi-VN"/>
              <a:t>‹#›</a:t>
            </a:fld>
          </a:p>
        </p:txBody>
      </p:sp>
      <p:sp>
        <p:nvSpPr>
          <p:cNvPr id="9001" name="Footer Placeholder 9001"/>
          <p:cNvSpPr>
            <a:spLocks noGrp="1"/>
          </p:cNvSpPr>
          <p:nvPr>
            <p:ph type="ftr" sz="quarter" idx="4001"/>
          </p:nvPr>
        </p:nvSpPr>
        <p:spPr>
          <a:xfrm>
            <a:off x="731520" y="6336792"/>
            <a:ext cx="7315200" cy="274320"/>
          </a:xfrm>
        </p:spPr>
        <p:txBody>
          <a:bodyPr lIns="0" tIns="0" rIns="0" bIns="0" anchor="ctr"/>
          <a:lstStyle>
            <a:lvl1pPr algn="l">
              <a:defRPr sz="1000">
                <a:solidFill>
                  <a:srgbClr val="B9C6E4"/>
                </a:solidFill>
                <a:latin typeface="Be Vietnam Pro"/>
                <a:cs typeface="Be Vietnam Pro"/>
              </a:defRPr>
            </a:lvl1pPr>
          </a:lstStyle>
          <a:p>
            <a:r>
              <a:rPr lang="vi-VN" dirty="0"/>
              <a:t>Bài trình bày mẫu (số liệu giả lập)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Cảm ơn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Liên đoàn Thương mại và Công nghiệp Việt Nam</a:t>
            </a:r>
          </a:p>
          <a:p>
            <a:pPr marL="0" indent="0">
              <a:buNone/>
            </a:pPr>
            <a:r>
              <a:rPr/>
              <a:t>Số 9 Đào Duy Anh, Đống Đa, Hà Nội  ·  vcci.com.vn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CCI">
  <a:themeElements>
    <a:clrScheme name="VCCI">
      <a:dk1>
        <a:srgbClr val="161A26"/>
      </a:dk1>
      <a:lt1>
        <a:srgbClr val="FFFFFF"/>
      </a:lt1>
      <a:dk2>
        <a:srgbClr val="0B1A4F"/>
      </a:dk2>
      <a:lt2>
        <a:srgbClr val="F4F0E6"/>
      </a:lt2>
      <a:accent1>
        <a:srgbClr val="264896"/>
      </a:accent1>
      <a:accent2>
        <a:srgbClr val="FFCD00"/>
      </a:accent2>
      <a:accent3>
        <a:srgbClr val="CC713C"/>
      </a:accent3>
      <a:accent4>
        <a:srgbClr val="5C6478"/>
      </a:accent4>
      <a:accent5>
        <a:srgbClr val="8FA6D6"/>
      </a:accent5>
      <a:accent6>
        <a:srgbClr val="9C570C"/>
      </a:accent6>
      <a:hlink>
        <a:srgbClr val="264896"/>
      </a:hlink>
      <a:folHlink>
        <a:srgbClr val="9C570C"/>
      </a:folHlink>
    </a:clrScheme>
    <a:fontScheme name="VCCI">
      <a:majorFont>
        <a:latin typeface="Lora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e Vietnam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CCI_Presentation" id="{DA7A477A-11CE-44ED-A31A-951ADA813DFF}" vid="{BF36B8F5-95A0-4C3F-8322-C49A2866A7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1037</Words>
  <Application>Microsoft Office PowerPoint</Application>
  <PresentationFormat>Widescreen</PresentationFormat>
  <Paragraphs>148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Be Vietnam Pro</vt:lpstr>
      <vt:lpstr>Be Vietnam Pro SemiBold</vt:lpstr>
      <vt:lpstr>Lora Medium</vt:lpstr>
      <vt:lpstr>Lora</vt:lpstr>
      <vt:lpstr>VCCI</vt:lpstr>
      <vt:lpstr>Môi trường kinh doanh Việt Nam 2026: góc nhìn từ doanh nghiệp</vt:lpstr>
      <vt:lpstr>Diễn đàn Doanh nghiệp Việt Nam 2026</vt:lpstr>
      <vt:lpstr>Chương trình</vt:lpstr>
      <vt:lpstr>Bức tranh môi trường kinh doanh</vt:lpstr>
      <vt:lpstr>Những phát hiện chính</vt:lpstr>
      <vt:lpstr>Bối cảnh và đề xuất</vt:lpstr>
      <vt:lpstr>Trước và sau cải cách</vt:lpstr>
      <vt:lpstr>Kết quả khảo sát 2026</vt:lpstr>
      <vt:lpstr>Chỉ số theo năm</vt:lpstr>
      <vt:lpstr>Bảng số liệu</vt:lpstr>
      <vt:lpstr>Doanh nghiệp là trung tâm</vt:lpstr>
      <vt:lpstr>Diễn giả</vt:lpstr>
      <vt:lpstr>Doanh nghiệp vững mạnh là nền tảng của một nền kinh tế tự chủ.</vt:lpstr>
      <vt:lpstr>Điều doanh nghiệp cần nhất là một môi trường kinh doanh ổn định, minh bạch và có thể dự báo được.</vt:lpstr>
      <vt:lpstr>Phương pháp và phạm vi khảo sát</vt:lpstr>
      <vt:lpstr>PowerPoint Presentation</vt:lpstr>
      <vt:lpstr>Cảm ơn</vt:lpstr>
    </vt:vector>
  </TitlesOfParts>
  <Company>Liên đoàn Thương mại và Công nghiệp Việt 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VCCI — Template trình chiếu</dc:title>
  <dc:subject>PptxGenJS Presentation</dc:subject>
  <dc:creator>VCCI</dc:creator>
  <cp:lastModifiedBy>Trương Đức Trọng</cp:lastModifiedBy>
  <cp:revision>2</cp:revision>
  <dcterms:created xsi:type="dcterms:W3CDTF">2026-10-05T10:31:32Z</dcterms:created>
  <dcterms:modified xsi:type="dcterms:W3CDTF">2026-10-05T10:31:37Z</dcterms:modified>
</cp:coreProperties>
</file>